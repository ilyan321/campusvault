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872F36-1280-4628-89E9-8EE3916A2F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2E74F7-33CF-4203-9B6B-013313F74E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6B4CEBE-A976-4B5D-B9EE-78736DD83F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7D3EB81-EFD2-408D-93E5-C3333C6CCB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AB076B-99D1-4BC6-960E-5AA1374118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EBF765-44F8-49C8-BDA3-72502FE945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6B6AF9E-D317-4B55-A9CF-5759A7B9B3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DAB8CE-0E91-40DD-8498-1E8721786F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A2EE60-E0DB-4045-A368-FA132E0F72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BF7242-6867-46B2-A852-AB86AFBFC9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F1587D-14D5-40EF-B71A-8A3DFE758A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1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.png"/>
          <p:cNvPicPr/>
          <p:nvPr/>
        </p:nvPicPr>
        <p:blipFill>
          <a:blip r:embed="rId2"/>
          <a:stretch/>
        </p:blipFill>
        <p:spPr>
          <a:xfrm>
            <a:off x="4848120" y="2131560"/>
            <a:ext cx="2494440" cy="29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3" descr="image.png"/>
          <p:cNvPicPr/>
          <p:nvPr/>
        </p:nvPicPr>
        <p:blipFill>
          <a:blip r:embed="rId3"/>
          <a:stretch/>
        </p:blipFill>
        <p:spPr>
          <a:xfrm>
            <a:off x="1947960" y="4002120"/>
            <a:ext cx="8295120" cy="72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3886200" y="2579400"/>
            <a:ext cx="4156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5281"/>
              </a:lnSpc>
            </a:pP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CampusVault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2638440" y="3421440"/>
            <a:ext cx="69141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475"/>
              </a:lnSpc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Grounded Knowledge Engine — Agentic RAG for University Exam Prep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2057400" y="4183200"/>
            <a:ext cx="29718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Plus Jakarta Sans SemiBold"/>
              </a:rPr>
              <a:t>Live Deployment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Plus Jakarta Sans SemiBold"/>
              </a:rPr>
              <a:t>https://frontend-nine-tau-84.vercel.app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029200" y="4206600"/>
            <a:ext cx="1956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Plus Jakarta Sans SemiBold"/>
              </a:rPr>
              <a:t>Core Architecture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lus Jakarta Sans"/>
              </a:rPr>
              <a:t> </a:t>
            </a:r>
            <a:r>
              <a:rPr lang="en-US" sz="1200" b="0" u="none" strike="noStrike">
                <a:solidFill>
                  <a:srgbClr val="34D399"/>
                </a:solidFill>
                <a:effectLst/>
                <a:uFillTx/>
                <a:latin typeface="Plus Jakarta Sans SemiBold"/>
              </a:rPr>
              <a:t>Agentic RAG + Confidence Gate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139160" y="4183200"/>
            <a:ext cx="275148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Plus Jakarta Sans SemiBold"/>
              </a:rPr>
              <a:t>Engineering Team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Plus Jakarta Sans"/>
              </a:rPr>
              <a:t> </a:t>
            </a: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Plus Jakarta Sans SemiBold"/>
              </a:rPr>
              <a:t>Shahzaib, Ali, Aqsa, Arfa, Zainab, Warda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2" descr="image.png"/>
          <p:cNvPicPr/>
          <p:nvPr/>
        </p:nvPicPr>
        <p:blipFill>
          <a:blip r:embed="rId2"/>
          <a:stretch/>
        </p:blipFill>
        <p:spPr>
          <a:xfrm>
            <a:off x="581040" y="2100240"/>
            <a:ext cx="5361480" cy="336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3" descr="image.png"/>
          <p:cNvPicPr/>
          <p:nvPr/>
        </p:nvPicPr>
        <p:blipFill>
          <a:blip r:embed="rId3"/>
          <a:stretch/>
        </p:blipFill>
        <p:spPr>
          <a:xfrm>
            <a:off x="6248520" y="2100240"/>
            <a:ext cx="5361480" cy="336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4"/>
          <p:cNvSpPr/>
          <p:nvPr/>
        </p:nvSpPr>
        <p:spPr>
          <a:xfrm>
            <a:off x="1219320" y="2414520"/>
            <a:ext cx="46296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Generic AI Hallucinations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895320" y="2833560"/>
            <a:ext cx="473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Students fail exams not from lack of study, but because generic models fabricate critical information without accountability.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6915240" y="2414520"/>
            <a:ext cx="45993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Fragmented Course Knowledge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6562800" y="2833560"/>
            <a:ext cx="473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Vital academic context disappears every semester across disorganized drives and graduation cycles.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8" descr="image.png"/>
          <p:cNvPicPr/>
          <p:nvPr/>
        </p:nvPicPr>
        <p:blipFill>
          <a:blip r:embed="rId4"/>
          <a:stretch/>
        </p:blipFill>
        <p:spPr>
          <a:xfrm>
            <a:off x="895320" y="244332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9"/>
          <p:cNvSpPr/>
          <p:nvPr/>
        </p:nvSpPr>
        <p:spPr>
          <a:xfrm>
            <a:off x="1123920" y="340524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ChatGPT invents formulas and outputs erroneous algorithm traces.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1123920" y="3948120"/>
            <a:ext cx="4504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Zero alignment with university syllabi and grading rubrics.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1"/>
          <p:cNvSpPr/>
          <p:nvPr/>
        </p:nvSpPr>
        <p:spPr>
          <a:xfrm>
            <a:off x="1123920" y="4276800"/>
            <a:ext cx="4504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Provides no verifiable source citations for students to validate.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1123920" y="4605480"/>
            <a:ext cx="4504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Standard naive RAG merely returns noisy keyword fragments.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13" descr="image.png"/>
          <p:cNvPicPr/>
          <p:nvPr/>
        </p:nvPicPr>
        <p:blipFill>
          <a:blip r:embed="rId5"/>
          <a:stretch/>
        </p:blipFill>
        <p:spPr>
          <a:xfrm>
            <a:off x="6562800" y="2443320"/>
            <a:ext cx="23688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14"/>
          <p:cNvSpPr/>
          <p:nvPr/>
        </p:nvSpPr>
        <p:spPr>
          <a:xfrm>
            <a:off x="6791400" y="340524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Students are buried under 400+ pages of unindexed lecture slides and PDFs.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6791400" y="3948120"/>
            <a:ext cx="4504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Crucial solved papers and senior notes vanish upon graduation.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6"/>
          <p:cNvSpPr/>
          <p:nvPr/>
        </p:nvSpPr>
        <p:spPr>
          <a:xfrm>
            <a:off x="6791400" y="4276800"/>
            <a:ext cx="45043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Key derivations are split arbitrarily by character-count chunking.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7"/>
          <p:cNvSpPr/>
          <p:nvPr/>
        </p:nvSpPr>
        <p:spPr>
          <a:xfrm>
            <a:off x="6791400" y="4605480"/>
            <a:ext cx="45043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Complete lack of 24/7 grounded tutoring tailored to course notes.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895320" y="341460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9"/>
          <p:cNvSpPr/>
          <p:nvPr/>
        </p:nvSpPr>
        <p:spPr>
          <a:xfrm>
            <a:off x="895320" y="395748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895320" y="428616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1"/>
          <p:cNvSpPr/>
          <p:nvPr/>
        </p:nvSpPr>
        <p:spPr>
          <a:xfrm>
            <a:off x="895320" y="461484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2"/>
          <p:cNvSpPr/>
          <p:nvPr/>
        </p:nvSpPr>
        <p:spPr>
          <a:xfrm>
            <a:off x="6562800" y="341460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3"/>
          <p:cNvSpPr/>
          <p:nvPr/>
        </p:nvSpPr>
        <p:spPr>
          <a:xfrm>
            <a:off x="6562800" y="395748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4"/>
          <p:cNvSpPr/>
          <p:nvPr/>
        </p:nvSpPr>
        <p:spPr>
          <a:xfrm>
            <a:off x="6562800" y="428616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5"/>
          <p:cNvSpPr/>
          <p:nvPr/>
        </p:nvSpPr>
        <p:spPr>
          <a:xfrm>
            <a:off x="6562800" y="4614840"/>
            <a:ext cx="94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F43F5E"/>
                </a:solidFill>
                <a:effectLst/>
                <a:uFillTx/>
                <a:latin typeface="Plus Jakarta Sans"/>
              </a:rPr>
              <a:t>✕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6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The Exam Preparation Crisis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2" descr="image.png"/>
          <p:cNvPicPr/>
          <p:nvPr/>
        </p:nvPicPr>
        <p:blipFill>
          <a:blip r:embed="rId2"/>
          <a:stretch/>
        </p:blipFill>
        <p:spPr>
          <a:xfrm>
            <a:off x="581040" y="2500200"/>
            <a:ext cx="3523320" cy="256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3" descr="image.png"/>
          <p:cNvPicPr/>
          <p:nvPr/>
        </p:nvPicPr>
        <p:blipFill>
          <a:blip r:embed="rId3"/>
          <a:stretch/>
        </p:blipFill>
        <p:spPr>
          <a:xfrm>
            <a:off x="4334040" y="2500200"/>
            <a:ext cx="3523320" cy="256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4" descr="image.png"/>
          <p:cNvPicPr/>
          <p:nvPr/>
        </p:nvPicPr>
        <p:blipFill>
          <a:blip r:embed="rId4"/>
          <a:stretch/>
        </p:blipFill>
        <p:spPr>
          <a:xfrm>
            <a:off x="8086680" y="2500200"/>
            <a:ext cx="3523320" cy="256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5" descr="image.png"/>
          <p:cNvPicPr/>
          <p:nvPr/>
        </p:nvPicPr>
        <p:blipFill>
          <a:blip r:embed="rId5"/>
          <a:stretch/>
        </p:blipFill>
        <p:spPr>
          <a:xfrm>
            <a:off x="819000" y="277668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6"/>
          <p:cNvSpPr/>
          <p:nvPr/>
        </p:nvSpPr>
        <p:spPr>
          <a:xfrm>
            <a:off x="819000" y="3424320"/>
            <a:ext cx="3199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Space Grotesk"/>
              </a:rPr>
              <a:t>Agentic Query Router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819000" y="3786120"/>
            <a:ext cx="304704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Instead of blind vector searches, an intelligent planner inspects queries, classifies subjects (OS, Networks, DSA, DBMS, DLD, Math), maps curriculum weeks, and selects custom retrieval strategies.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8" descr="image.png"/>
          <p:cNvPicPr/>
          <p:nvPr/>
        </p:nvPicPr>
        <p:blipFill>
          <a:blip r:embed="rId6"/>
          <a:stretch/>
        </p:blipFill>
        <p:spPr>
          <a:xfrm>
            <a:off x="4572000" y="277668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9"/>
          <p:cNvSpPr/>
          <p:nvPr/>
        </p:nvSpPr>
        <p:spPr>
          <a:xfrm>
            <a:off x="4572000" y="3424320"/>
            <a:ext cx="3199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Space Grotesk"/>
              </a:rPr>
              <a:t>Strict Confidence Gate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4572000" y="3786120"/>
            <a:ext cx="304704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Enforces a 0.65 similarity barrier. If peer notes are missing, the system explicitly warns: </a:t>
            </a:r>
            <a:r>
              <a:rPr lang="en-US" sz="1050" b="0" i="1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"Operating in General AI Mode."</a:t>
            </a: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 It refuses to hallucinate grounded authority.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1" descr="image.png"/>
          <p:cNvPicPr/>
          <p:nvPr/>
        </p:nvPicPr>
        <p:blipFill>
          <a:blip r:embed="rId7"/>
          <a:stretch/>
        </p:blipFill>
        <p:spPr>
          <a:xfrm>
            <a:off x="8325000" y="2776680"/>
            <a:ext cx="45612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2"/>
          <p:cNvSpPr/>
          <p:nvPr/>
        </p:nvSpPr>
        <p:spPr>
          <a:xfrm>
            <a:off x="8325000" y="3424320"/>
            <a:ext cx="31993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Space Grotesk"/>
              </a:rPr>
              <a:t>AST-Aware Chunking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8325000" y="3786120"/>
            <a:ext cx="3047040" cy="8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76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Abandons arbitrary character slicing. Uses Abstract Syntax Tree parsing to protect function boundaries in C++/Python and LaTeX blocks so code logic and derivations are never bisected.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14" descr="image.png"/>
          <p:cNvPicPr/>
          <p:nvPr/>
        </p:nvPicPr>
        <p:blipFill>
          <a:blip r:embed="rId8"/>
          <a:stretch/>
        </p:blipFill>
        <p:spPr>
          <a:xfrm>
            <a:off x="942840" y="290052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5" descr="image.png"/>
          <p:cNvPicPr/>
          <p:nvPr/>
        </p:nvPicPr>
        <p:blipFill>
          <a:blip r:embed="rId9"/>
          <a:stretch/>
        </p:blipFill>
        <p:spPr>
          <a:xfrm>
            <a:off x="4695840" y="2900520"/>
            <a:ext cx="208440" cy="20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6" descr="image.png"/>
          <p:cNvPicPr/>
          <p:nvPr/>
        </p:nvPicPr>
        <p:blipFill>
          <a:blip r:embed="rId10"/>
          <a:stretch/>
        </p:blipFill>
        <p:spPr>
          <a:xfrm>
            <a:off x="8420040" y="2900520"/>
            <a:ext cx="26568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17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Why CampusVault is Agentic RAG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2" descr="image.png"/>
          <p:cNvPicPr/>
          <p:nvPr/>
        </p:nvPicPr>
        <p:blipFill>
          <a:blip r:embed="rId2"/>
          <a:stretch/>
        </p:blipFill>
        <p:spPr>
          <a:xfrm>
            <a:off x="581040" y="2585160"/>
            <a:ext cx="5437800" cy="11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3" descr="image.png"/>
          <p:cNvPicPr/>
          <p:nvPr/>
        </p:nvPicPr>
        <p:blipFill>
          <a:blip r:embed="rId3"/>
          <a:stretch/>
        </p:blipFill>
        <p:spPr>
          <a:xfrm>
            <a:off x="6172200" y="2585160"/>
            <a:ext cx="5437800" cy="11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4" descr="image.png"/>
          <p:cNvPicPr/>
          <p:nvPr/>
        </p:nvPicPr>
        <p:blipFill>
          <a:blip r:embed="rId4"/>
          <a:stretch/>
        </p:blipFill>
        <p:spPr>
          <a:xfrm>
            <a:off x="581040" y="3857760"/>
            <a:ext cx="5437800" cy="11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5" descr="image.png"/>
          <p:cNvPicPr/>
          <p:nvPr/>
        </p:nvPicPr>
        <p:blipFill>
          <a:blip r:embed="rId5"/>
          <a:stretch/>
        </p:blipFill>
        <p:spPr>
          <a:xfrm>
            <a:off x="6172200" y="3857760"/>
            <a:ext cx="5437800" cy="11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6"/>
          <p:cNvSpPr/>
          <p:nvPr/>
        </p:nvSpPr>
        <p:spPr>
          <a:xfrm>
            <a:off x="838080" y="3099600"/>
            <a:ext cx="492336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22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Every response displays the exact senior note or lecture slide chunk used, complete with cosine similarity metrics for verifiable source auditing.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6429240" y="3099600"/>
            <a:ext cx="492336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22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All embeddings are aligned across a structured 16-week semester syllabus covering 6 foundational engineering branches for targeted mid/final prep.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838080" y="4371840"/>
            <a:ext cx="492336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22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Built on Server-Sent Events (SSE) direct from Groq Llama 3.3 70B, delivering conversational speed with zero latency lag during intense revision.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6429240" y="4371840"/>
            <a:ext cx="492336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22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Full client-side rendering for linear algebra matrices, binary arithmetic, logic tables, and networking equations in high-fidelity mathematical notation.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0" descr="image.png"/>
          <p:cNvPicPr/>
          <p:nvPr/>
        </p:nvPicPr>
        <p:blipFill>
          <a:blip r:embed="rId6"/>
          <a:stretch/>
        </p:blipFill>
        <p:spPr>
          <a:xfrm>
            <a:off x="838080" y="2818440"/>
            <a:ext cx="14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11"/>
          <p:cNvSpPr/>
          <p:nvPr/>
        </p:nvSpPr>
        <p:spPr>
          <a:xfrm>
            <a:off x="1114560" y="2804040"/>
            <a:ext cx="2129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Peer-Grounded Citations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12" descr="image.png"/>
          <p:cNvPicPr/>
          <p:nvPr/>
        </p:nvPicPr>
        <p:blipFill>
          <a:blip r:embed="rId7"/>
          <a:stretch/>
        </p:blipFill>
        <p:spPr>
          <a:xfrm>
            <a:off x="6429240" y="2818440"/>
            <a:ext cx="17028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13"/>
          <p:cNvSpPr/>
          <p:nvPr/>
        </p:nvSpPr>
        <p:spPr>
          <a:xfrm>
            <a:off x="6734160" y="2804040"/>
            <a:ext cx="25293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16-Week Curriculum Mapping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14" descr="image.png"/>
          <p:cNvPicPr/>
          <p:nvPr/>
        </p:nvPicPr>
        <p:blipFill>
          <a:blip r:embed="rId8"/>
          <a:stretch/>
        </p:blipFill>
        <p:spPr>
          <a:xfrm>
            <a:off x="838080" y="4091040"/>
            <a:ext cx="14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15"/>
          <p:cNvSpPr/>
          <p:nvPr/>
        </p:nvSpPr>
        <p:spPr>
          <a:xfrm>
            <a:off x="1114560" y="4076640"/>
            <a:ext cx="24692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Sub-500ms Token Streaming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6" descr="image.png"/>
          <p:cNvPicPr/>
          <p:nvPr/>
        </p:nvPicPr>
        <p:blipFill>
          <a:blip r:embed="rId9"/>
          <a:stretch/>
        </p:blipFill>
        <p:spPr>
          <a:xfrm>
            <a:off x="6429240" y="4091040"/>
            <a:ext cx="21816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Box 17"/>
          <p:cNvSpPr/>
          <p:nvPr/>
        </p:nvSpPr>
        <p:spPr>
          <a:xfrm>
            <a:off x="6781680" y="4076640"/>
            <a:ext cx="25192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Native KaTeX Math Rendering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8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Grounding &amp; Math Engine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31" name="Table 2"/>
          <p:cNvGraphicFramePr/>
          <p:nvPr/>
        </p:nvGraphicFramePr>
        <p:xfrm>
          <a:off x="581040" y="2026440"/>
          <a:ext cx="11010240" cy="3507840"/>
        </p:xfrm>
        <a:graphic>
          <a:graphicData uri="http://schemas.openxmlformats.org/drawingml/2006/table">
            <a:tbl>
              <a:tblPr/>
              <a:tblGrid>
                <a:gridCol w="1711440"/>
                <a:gridCol w="3350520"/>
                <a:gridCol w="5948640"/>
              </a:tblGrid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Space Grotesk"/>
                        </a:rPr>
                        <a:t>Layer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11C33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Space Grotesk"/>
                        </a:rPr>
                        <a:t>Technology Chosen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11C33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Space Grotesk"/>
                        </a:rPr>
                        <a:t>Architectural Role &amp; Benefit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11C33"/>
                    </a:solidFill>
                  </a:tcPr>
                </a:tc>
              </a:tr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Client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React, TypeScript, Vite, Tailwind CSS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Responsive desktop &amp; mobile client with session history and KaTeX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</a:tr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API Engine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FastAPI (Python)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High-concurrency async orchestrator and SSE streaming provider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</a:tr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Inference LLM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Groq Llama 3.3 70B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Ultra-fast 70B reasoning under strict system grounding prompts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</a:tr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Embeddings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FastEmbed (ONNX Runtime)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Local 384-dim vector generation; zero GPU cost, no external API calls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</a:tr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Vector DB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PostgreSQL + pgvector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Hybrid cosine &amp; keyword similarity retrieval running in &lt;20ms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</a:tr>
              <a:tr h="5011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Infra &amp; Store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Supabase, Vercel, Render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Production storage, scalable edge deployments, and secure hosting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B1120"/>
                    </a:solidFill>
                  </a:tcPr>
                </a:tc>
              </a:tr>
            </a:tbl>
          </a:graphicData>
        </a:graphic>
      </p:graphicFrame>
      <p:sp>
        <p:nvSpPr>
          <p:cNvPr id="132" name="Rectangle 3"/>
          <p:cNvSpPr/>
          <p:nvPr/>
        </p:nvSpPr>
        <p:spPr>
          <a:xfrm>
            <a:off x="590400" y="2498040"/>
            <a:ext cx="171072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2302200" y="2498040"/>
            <a:ext cx="334944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5652720" y="2498040"/>
            <a:ext cx="594756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6"/>
          <p:cNvSpPr/>
          <p:nvPr/>
        </p:nvSpPr>
        <p:spPr>
          <a:xfrm>
            <a:off x="590400" y="3002760"/>
            <a:ext cx="171072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7"/>
          <p:cNvSpPr/>
          <p:nvPr/>
        </p:nvSpPr>
        <p:spPr>
          <a:xfrm>
            <a:off x="2302200" y="3002760"/>
            <a:ext cx="334944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8"/>
          <p:cNvSpPr/>
          <p:nvPr/>
        </p:nvSpPr>
        <p:spPr>
          <a:xfrm>
            <a:off x="5652720" y="3002760"/>
            <a:ext cx="594756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9"/>
          <p:cNvSpPr/>
          <p:nvPr/>
        </p:nvSpPr>
        <p:spPr>
          <a:xfrm>
            <a:off x="590400" y="3507480"/>
            <a:ext cx="171072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0"/>
          <p:cNvSpPr/>
          <p:nvPr/>
        </p:nvSpPr>
        <p:spPr>
          <a:xfrm>
            <a:off x="2302200" y="3507480"/>
            <a:ext cx="334944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11"/>
          <p:cNvSpPr/>
          <p:nvPr/>
        </p:nvSpPr>
        <p:spPr>
          <a:xfrm>
            <a:off x="5652720" y="3507480"/>
            <a:ext cx="594756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12"/>
          <p:cNvSpPr/>
          <p:nvPr/>
        </p:nvSpPr>
        <p:spPr>
          <a:xfrm>
            <a:off x="590400" y="4012560"/>
            <a:ext cx="171072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13"/>
          <p:cNvSpPr/>
          <p:nvPr/>
        </p:nvSpPr>
        <p:spPr>
          <a:xfrm>
            <a:off x="2302200" y="4012560"/>
            <a:ext cx="334944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14"/>
          <p:cNvSpPr/>
          <p:nvPr/>
        </p:nvSpPr>
        <p:spPr>
          <a:xfrm>
            <a:off x="5652720" y="4012560"/>
            <a:ext cx="594756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5"/>
          <p:cNvSpPr/>
          <p:nvPr/>
        </p:nvSpPr>
        <p:spPr>
          <a:xfrm>
            <a:off x="590400" y="4517280"/>
            <a:ext cx="171072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6"/>
          <p:cNvSpPr/>
          <p:nvPr/>
        </p:nvSpPr>
        <p:spPr>
          <a:xfrm>
            <a:off x="2302200" y="4517280"/>
            <a:ext cx="334944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17"/>
          <p:cNvSpPr/>
          <p:nvPr/>
        </p:nvSpPr>
        <p:spPr>
          <a:xfrm>
            <a:off x="5652720" y="4517280"/>
            <a:ext cx="594756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8"/>
          <p:cNvSpPr/>
          <p:nvPr/>
        </p:nvSpPr>
        <p:spPr>
          <a:xfrm>
            <a:off x="590400" y="5022000"/>
            <a:ext cx="171072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19"/>
          <p:cNvSpPr/>
          <p:nvPr/>
        </p:nvSpPr>
        <p:spPr>
          <a:xfrm>
            <a:off x="2302200" y="5022000"/>
            <a:ext cx="334944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20"/>
          <p:cNvSpPr/>
          <p:nvPr/>
        </p:nvSpPr>
        <p:spPr>
          <a:xfrm>
            <a:off x="5652720" y="5022000"/>
            <a:ext cx="5947560" cy="8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7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Full-Stack Technology Matrix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2" descr="image.png"/>
          <p:cNvPicPr/>
          <p:nvPr/>
        </p:nvPicPr>
        <p:blipFill>
          <a:blip r:embed="rId2"/>
          <a:stretch/>
        </p:blipFill>
        <p:spPr>
          <a:xfrm>
            <a:off x="1132560" y="3767040"/>
            <a:ext cx="9925920" cy="2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3" descr="image.png"/>
          <p:cNvPicPr/>
          <p:nvPr/>
        </p:nvPicPr>
        <p:blipFill>
          <a:blip r:embed="rId3"/>
          <a:stretch/>
        </p:blipFill>
        <p:spPr>
          <a:xfrm>
            <a:off x="581040" y="4029120"/>
            <a:ext cx="2535840" cy="144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4" descr="image.png"/>
          <p:cNvPicPr/>
          <p:nvPr/>
        </p:nvPicPr>
        <p:blipFill>
          <a:blip r:embed="rId4"/>
          <a:stretch/>
        </p:blipFill>
        <p:spPr>
          <a:xfrm>
            <a:off x="3412080" y="2261520"/>
            <a:ext cx="2535840" cy="12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5" descr="image.png"/>
          <p:cNvPicPr/>
          <p:nvPr/>
        </p:nvPicPr>
        <p:blipFill>
          <a:blip r:embed="rId5"/>
          <a:stretch/>
        </p:blipFill>
        <p:spPr>
          <a:xfrm>
            <a:off x="6243120" y="4029120"/>
            <a:ext cx="2535840" cy="12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6" descr="image.png"/>
          <p:cNvPicPr/>
          <p:nvPr/>
        </p:nvPicPr>
        <p:blipFill>
          <a:blip r:embed="rId6"/>
          <a:stretch/>
        </p:blipFill>
        <p:spPr>
          <a:xfrm>
            <a:off x="9074160" y="2261520"/>
            <a:ext cx="2535840" cy="127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7"/>
          <p:cNvSpPr/>
          <p:nvPr/>
        </p:nvSpPr>
        <p:spPr>
          <a:xfrm>
            <a:off x="743040" y="4191120"/>
            <a:ext cx="2211840" cy="1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10B981"/>
                </a:solidFill>
                <a:effectLst/>
                <a:uFillTx/>
                <a:latin typeface="Space Grotesk"/>
              </a:rPr>
              <a:t>STEP 01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743040" y="4362480"/>
            <a:ext cx="2322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Query &amp; Routing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743040" y="4619520"/>
            <a:ext cx="2211840" cy="69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Student submits prompt via React; FastAPI Agentic Router extracts subject, semester week, and retrieval intent.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3574080" y="2423520"/>
            <a:ext cx="2211840" cy="1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10B981"/>
                </a:solidFill>
                <a:effectLst/>
                <a:uFillTx/>
                <a:latin typeface="Space Grotesk"/>
              </a:rPr>
              <a:t>STEP 02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1"/>
          <p:cNvSpPr/>
          <p:nvPr/>
        </p:nvSpPr>
        <p:spPr>
          <a:xfrm>
            <a:off x="3574080" y="2594880"/>
            <a:ext cx="2322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ONNX Embed &amp; Search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3574080" y="2852280"/>
            <a:ext cx="221184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FastEmbed converts input to 384-dim vector locally; executes hybrid search on pgvector in under 20ms.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6405120" y="4191120"/>
            <a:ext cx="2211840" cy="1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10B981"/>
                </a:solidFill>
                <a:effectLst/>
                <a:uFillTx/>
                <a:latin typeface="Space Grotesk"/>
              </a:rPr>
              <a:t>STEP 03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6405120" y="4362480"/>
            <a:ext cx="2322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Confidence Gate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5"/>
          <p:cNvSpPr/>
          <p:nvPr/>
        </p:nvSpPr>
        <p:spPr>
          <a:xfrm>
            <a:off x="6405120" y="4619520"/>
            <a:ext cx="221184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Verifies similarity &gt;0.65; confirms grounded peer-note mode or triggers honest General AI disclaimer.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9235800" y="2423520"/>
            <a:ext cx="2211840" cy="1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20" b="1" u="none" strike="noStrike">
                <a:solidFill>
                  <a:srgbClr val="10B981"/>
                </a:solidFill>
                <a:effectLst/>
                <a:uFillTx/>
                <a:latin typeface="Space Grotesk"/>
              </a:rPr>
              <a:t>STEP 04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9235800" y="2594880"/>
            <a:ext cx="2322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Groq SSE Stream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9235800" y="2852280"/>
            <a:ext cx="221184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Llama 3.3 70B streams grounded tokens to client with verified source citations and KaTeX equations.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9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End-to-End Query Workflow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0"/>
          <p:cNvSpPr/>
          <p:nvPr/>
        </p:nvSpPr>
        <p:spPr>
          <a:xfrm>
            <a:off x="1773360" y="3705120"/>
            <a:ext cx="151200" cy="151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285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45000" rIns="756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ounded Rectangle 21"/>
          <p:cNvSpPr/>
          <p:nvPr/>
        </p:nvSpPr>
        <p:spPr>
          <a:xfrm>
            <a:off x="4604400" y="3705120"/>
            <a:ext cx="151200" cy="151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285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45000" rIns="756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22"/>
          <p:cNvSpPr/>
          <p:nvPr/>
        </p:nvSpPr>
        <p:spPr>
          <a:xfrm>
            <a:off x="7435080" y="3705120"/>
            <a:ext cx="151200" cy="151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285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45000" rIns="756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23"/>
          <p:cNvSpPr/>
          <p:nvPr/>
        </p:nvSpPr>
        <p:spPr>
          <a:xfrm>
            <a:off x="10266120" y="3705120"/>
            <a:ext cx="151200" cy="151200"/>
          </a:xfrm>
          <a:prstGeom prst="roundRect">
            <a:avLst>
              <a:gd name="adj" fmla="val 50000"/>
            </a:avLst>
          </a:prstGeom>
          <a:solidFill>
            <a:srgbClr val="0B0F19"/>
          </a:solidFill>
          <a:ln w="28575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5600" tIns="45000" rIns="756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2" descr="image.png"/>
          <p:cNvPicPr/>
          <p:nvPr/>
        </p:nvPicPr>
        <p:blipFill>
          <a:blip r:embed="rId2"/>
          <a:stretch/>
        </p:blipFill>
        <p:spPr>
          <a:xfrm>
            <a:off x="581040" y="2862360"/>
            <a:ext cx="3427920" cy="183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3" descr="image.png"/>
          <p:cNvPicPr/>
          <p:nvPr/>
        </p:nvPicPr>
        <p:blipFill>
          <a:blip r:embed="rId3"/>
          <a:stretch/>
        </p:blipFill>
        <p:spPr>
          <a:xfrm>
            <a:off x="4390920" y="3666960"/>
            <a:ext cx="3551760" cy="6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4" descr="image.png"/>
          <p:cNvPicPr/>
          <p:nvPr/>
        </p:nvPicPr>
        <p:blipFill>
          <a:blip r:embed="rId4"/>
          <a:stretch/>
        </p:blipFill>
        <p:spPr>
          <a:xfrm>
            <a:off x="8058240" y="3666960"/>
            <a:ext cx="3551760" cy="6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5" descr="image.png"/>
          <p:cNvPicPr/>
          <p:nvPr/>
        </p:nvPicPr>
        <p:blipFill>
          <a:blip r:embed="rId5"/>
          <a:stretch/>
        </p:blipFill>
        <p:spPr>
          <a:xfrm>
            <a:off x="4390920" y="4476600"/>
            <a:ext cx="3551760" cy="69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6" descr="image.png"/>
          <p:cNvPicPr/>
          <p:nvPr/>
        </p:nvPicPr>
        <p:blipFill>
          <a:blip r:embed="rId6"/>
          <a:stretch/>
        </p:blipFill>
        <p:spPr>
          <a:xfrm>
            <a:off x="8058240" y="4476600"/>
            <a:ext cx="3551760" cy="69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7"/>
          <p:cNvSpPr/>
          <p:nvPr/>
        </p:nvSpPr>
        <p:spPr>
          <a:xfrm>
            <a:off x="819000" y="3252960"/>
            <a:ext cx="2951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6001"/>
              </a:lnSpc>
            </a:pPr>
            <a:r>
              <a:rPr lang="en-US" sz="6000" b="1" u="none" strike="noStrike">
                <a:solidFill>
                  <a:srgbClr val="10B981"/>
                </a:solidFill>
                <a:effectLst/>
                <a:uFillTx/>
                <a:latin typeface="Space Grotesk"/>
              </a:rPr>
              <a:t>$0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819000" y="4091040"/>
            <a:ext cx="29516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Plus Jakarta Sans SemiBold"/>
              </a:rPr>
              <a:t>Embedding API Expense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9"/>
          <p:cNvSpPr/>
          <p:nvPr/>
        </p:nvSpPr>
        <p:spPr>
          <a:xfrm>
            <a:off x="4390920" y="2390760"/>
            <a:ext cx="75798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FastEmbed ONNX &amp; Hybrid Retrieval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4390920" y="2867040"/>
            <a:ext cx="721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By executing embedding generation directly on a lightweight ONNX runtime in FastAPI, CampusVault completely removes third-party embedding costs, API throttling, and latency spikes.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4533840" y="3809880"/>
            <a:ext cx="32659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8FAFC"/>
                </a:solidFill>
                <a:effectLst/>
                <a:uFillTx/>
                <a:latin typeface="Plus Jakarta Sans"/>
              </a:rPr>
              <a:t>&lt;20ms Database Latency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4533840" y="4057560"/>
            <a:ext cx="243720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PostgreSQL pgvector hybrid search index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8201160" y="3809880"/>
            <a:ext cx="32659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8FAFC"/>
                </a:solidFill>
                <a:effectLst/>
                <a:uFillTx/>
                <a:latin typeface="Plus Jakarta Sans"/>
              </a:rPr>
              <a:t>Zero External GPU Demands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8201160" y="4057560"/>
            <a:ext cx="2446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384-dimensional dense semantic vectors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4533840" y="4619520"/>
            <a:ext cx="32659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8FAFC"/>
                </a:solidFill>
                <a:effectLst/>
                <a:uFillTx/>
                <a:latin typeface="Plus Jakarta Sans"/>
              </a:rPr>
              <a:t>Strict 0.65 Safety Boundary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6"/>
          <p:cNvSpPr/>
          <p:nvPr/>
        </p:nvSpPr>
        <p:spPr>
          <a:xfrm>
            <a:off x="4533840" y="4867200"/>
            <a:ext cx="3103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Deterministic fallback when peer notes lack coverage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8201160" y="4619520"/>
            <a:ext cx="32659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8FAFC"/>
                </a:solidFill>
                <a:effectLst/>
                <a:uFillTx/>
                <a:latin typeface="Plus Jakarta Sans"/>
              </a:rPr>
              <a:t>AST Syntax Guard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8"/>
          <p:cNvSpPr/>
          <p:nvPr/>
        </p:nvSpPr>
        <p:spPr>
          <a:xfrm>
            <a:off x="8201160" y="4867200"/>
            <a:ext cx="31039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Safe ingestion for Python, C++, and LaTeX documents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9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Zero-Cost Local Embedding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2" descr="image.png"/>
          <p:cNvPicPr/>
          <p:nvPr/>
        </p:nvPicPr>
        <p:blipFill>
          <a:blip r:embed="rId2"/>
          <a:stretch/>
        </p:blipFill>
        <p:spPr>
          <a:xfrm>
            <a:off x="581040" y="2000160"/>
            <a:ext cx="5361480" cy="35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" descr="image.png"/>
          <p:cNvPicPr/>
          <p:nvPr/>
        </p:nvPicPr>
        <p:blipFill>
          <a:blip r:embed="rId3"/>
          <a:stretch/>
        </p:blipFill>
        <p:spPr>
          <a:xfrm>
            <a:off x="6248520" y="2000160"/>
            <a:ext cx="5361480" cy="356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4"/>
          <p:cNvSpPr/>
          <p:nvPr/>
        </p:nvSpPr>
        <p:spPr>
          <a:xfrm>
            <a:off x="1276200" y="2314440"/>
            <a:ext cx="4569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Student Experience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5"/>
          <p:cNvSpPr/>
          <p:nvPr/>
        </p:nvSpPr>
        <p:spPr>
          <a:xfrm>
            <a:off x="895320" y="2733840"/>
            <a:ext cx="473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Engineered for high-stress university exam preparation windows: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6943680" y="2314440"/>
            <a:ext cx="4569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Ingestion &amp; Integrity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6562800" y="2733840"/>
            <a:ext cx="473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Self-sustaining community knowledge flywheel for campuses: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8" descr="image.png"/>
          <p:cNvPicPr/>
          <p:nvPr/>
        </p:nvPicPr>
        <p:blipFill>
          <a:blip r:embed="rId4"/>
          <a:stretch/>
        </p:blipFill>
        <p:spPr>
          <a:xfrm>
            <a:off x="895320" y="2343240"/>
            <a:ext cx="26568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Box 9"/>
          <p:cNvSpPr/>
          <p:nvPr/>
        </p:nvSpPr>
        <p:spPr>
          <a:xfrm>
            <a:off x="1123920" y="307656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6 Core Engineering Subjects: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OS, Networks, DSA, DBMS, DLD, Math.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0"/>
          <p:cNvSpPr/>
          <p:nvPr/>
        </p:nvSpPr>
        <p:spPr>
          <a:xfrm>
            <a:off x="1123920" y="361944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High-Yield Launchpad: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Pre-loaded curated exam questions for single-click execution.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1"/>
          <p:cNvSpPr/>
          <p:nvPr/>
        </p:nvSpPr>
        <p:spPr>
          <a:xfrm>
            <a:off x="1123920" y="416232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Multi-Turn Sessions: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Context-aware conversational history retention across queries.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1123920" y="4705200"/>
            <a:ext cx="450432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Cross-Platform UI: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Fully optimized for mobile and desktop review.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13" descr="image.png"/>
          <p:cNvPicPr/>
          <p:nvPr/>
        </p:nvPicPr>
        <p:blipFill>
          <a:blip r:embed="rId5"/>
          <a:stretch/>
        </p:blipFill>
        <p:spPr>
          <a:xfrm>
            <a:off x="6562800" y="2343240"/>
            <a:ext cx="265680" cy="2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Box 14"/>
          <p:cNvSpPr/>
          <p:nvPr/>
        </p:nvSpPr>
        <p:spPr>
          <a:xfrm>
            <a:off x="6791400" y="307656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Multi-Format Ingestion: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Supports PDF, Markdown, Python, and C++ source uploads.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6791400" y="361944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AST Boundary Defense: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Prevents broken code blocks and truncated math derivations.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6"/>
          <p:cNvSpPr/>
          <p:nvPr/>
        </p:nvSpPr>
        <p:spPr>
          <a:xfrm>
            <a:off x="6791400" y="416232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Peer Provenance: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Directly inspect chunk citations and confidence percentages.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7"/>
          <p:cNvSpPr/>
          <p:nvPr/>
        </p:nvSpPr>
        <p:spPr>
          <a:xfrm>
            <a:off x="6791400" y="4705200"/>
            <a:ext cx="45043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Honest AI Guarantee: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System admits knowledge gaps instead of hallucinating.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895320" y="308628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9"/>
          <p:cNvSpPr/>
          <p:nvPr/>
        </p:nvSpPr>
        <p:spPr>
          <a:xfrm>
            <a:off x="895320" y="362916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0"/>
          <p:cNvSpPr/>
          <p:nvPr/>
        </p:nvSpPr>
        <p:spPr>
          <a:xfrm>
            <a:off x="895320" y="417204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1"/>
          <p:cNvSpPr/>
          <p:nvPr/>
        </p:nvSpPr>
        <p:spPr>
          <a:xfrm>
            <a:off x="895320" y="471492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2"/>
          <p:cNvSpPr/>
          <p:nvPr/>
        </p:nvSpPr>
        <p:spPr>
          <a:xfrm>
            <a:off x="6562800" y="308628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3"/>
          <p:cNvSpPr/>
          <p:nvPr/>
        </p:nvSpPr>
        <p:spPr>
          <a:xfrm>
            <a:off x="6562800" y="362916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4"/>
          <p:cNvSpPr/>
          <p:nvPr/>
        </p:nvSpPr>
        <p:spPr>
          <a:xfrm>
            <a:off x="6562800" y="417204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5"/>
          <p:cNvSpPr/>
          <p:nvPr/>
        </p:nvSpPr>
        <p:spPr>
          <a:xfrm>
            <a:off x="6562800" y="4714920"/>
            <a:ext cx="122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463"/>
              </a:lnSpc>
            </a:pPr>
            <a:r>
              <a:rPr lang="en-US" sz="980" b="1" u="none" strike="noStrike">
                <a:solidFill>
                  <a:srgbClr val="10B981"/>
                </a:solidFill>
                <a:effectLst/>
                <a:uFillTx/>
                <a:latin typeface="Plus Jakarta Sans"/>
              </a:rPr>
              <a:t>✓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6"/>
          <p:cNvSpPr/>
          <p:nvPr/>
        </p:nvSpPr>
        <p:spPr>
          <a:xfrm>
            <a:off x="581040" y="466560"/>
            <a:ext cx="11580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Student &amp; Ingestion Features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 descr="image.png"/>
          <p:cNvPicPr/>
          <p:nvPr/>
        </p:nvPicPr>
        <p:blipFill>
          <a:blip r:embed="rId1"/>
          <a:stretch/>
        </p:blipFill>
        <p:spPr>
          <a:xfrm>
            <a:off x="108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Picture 2" descr="image.png"/>
          <p:cNvPicPr/>
          <p:nvPr/>
        </p:nvPicPr>
        <p:blipFill>
          <a:blip r:embed="rId2"/>
          <a:stretch/>
        </p:blipFill>
        <p:spPr>
          <a:xfrm>
            <a:off x="5257800" y="466560"/>
            <a:ext cx="1675440" cy="29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3" descr="image.png"/>
          <p:cNvPicPr/>
          <p:nvPr/>
        </p:nvPicPr>
        <p:blipFill>
          <a:blip r:embed="rId3"/>
          <a:stretch/>
        </p:blipFill>
        <p:spPr>
          <a:xfrm>
            <a:off x="2476440" y="2523960"/>
            <a:ext cx="7237800" cy="85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TextBox 4"/>
          <p:cNvSpPr/>
          <p:nvPr/>
        </p:nvSpPr>
        <p:spPr>
          <a:xfrm>
            <a:off x="2057400" y="914400"/>
            <a:ext cx="80002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CampusVault Demo &amp; Q&amp;A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5"/>
          <p:cNvSpPr/>
          <p:nvPr/>
        </p:nvSpPr>
        <p:spPr>
          <a:xfrm>
            <a:off x="2762280" y="1724040"/>
            <a:ext cx="6666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Grounded academic intelligence engineered specifically for university engineering exams.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Picture 6" descr="image.png"/>
          <p:cNvPicPr/>
          <p:nvPr/>
        </p:nvPicPr>
        <p:blipFill>
          <a:blip r:embed="rId4"/>
          <a:stretch/>
        </p:blipFill>
        <p:spPr>
          <a:xfrm>
            <a:off x="3386160" y="3666960"/>
            <a:ext cx="5418720" cy="44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7"/>
          <p:cNvSpPr/>
          <p:nvPr/>
        </p:nvSpPr>
        <p:spPr>
          <a:xfrm>
            <a:off x="2771640" y="2724120"/>
            <a:ext cx="664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200" b="0" i="1" u="none" strike="noStrike">
                <a:solidFill>
                  <a:srgbClr val="E2E8F0"/>
                </a:solidFill>
                <a:effectLst/>
                <a:uFillTx/>
                <a:latin typeface="Plus Jakarta Sans"/>
              </a:rPr>
              <a:t>"A full live demo showing the Agentic RAG pipeline in action, source inspection, and mobile view is included in our demo video."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8"/>
          <p:cNvSpPr/>
          <p:nvPr/>
        </p:nvSpPr>
        <p:spPr>
          <a:xfrm>
            <a:off x="3200400" y="3809880"/>
            <a:ext cx="320040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860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8BDF8"/>
                </a:solidFill>
                <a:effectLst/>
                <a:uFillTx/>
                <a:latin typeface="Space Grotesk SemiBold"/>
              </a:rPr>
              <a:t>https://frontend-nine-tau-84.vercel.app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9"/>
          <p:cNvSpPr/>
          <p:nvPr/>
        </p:nvSpPr>
        <p:spPr>
          <a:xfrm>
            <a:off x="5996160" y="3790800"/>
            <a:ext cx="56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8BDF8"/>
                </a:solidFill>
                <a:effectLst/>
                <a:uFillTx/>
                <a:latin typeface="Space Grotesk SemiBold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0"/>
          <p:cNvSpPr/>
          <p:nvPr/>
        </p:nvSpPr>
        <p:spPr>
          <a:xfrm>
            <a:off x="6375960" y="3809880"/>
            <a:ext cx="22849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768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8BDF8"/>
                </a:solidFill>
                <a:effectLst/>
                <a:uFillTx/>
                <a:latin typeface="Space Grotesk SemiBold"/>
              </a:rPr>
              <a:t>HEC PAK ANGELS Hackathon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Picture 12" descr="image.png"/>
          <p:cNvPicPr/>
          <p:nvPr/>
        </p:nvPicPr>
        <p:blipFill>
          <a:blip r:embed="rId5"/>
          <a:stretch/>
        </p:blipFill>
        <p:spPr>
          <a:xfrm>
            <a:off x="6375960" y="3809880"/>
            <a:ext cx="228600" cy="19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2026-09-13T05:24:42Z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